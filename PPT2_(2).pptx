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Russo One" charset="1" panose="02000503050000020004"/>
      <p:regular r:id="rId30"/>
    </p:embeddedFont>
    <p:embeddedFont>
      <p:font typeface="Inter" charset="1" panose="020B0502030000000004"/>
      <p:regular r:id="rId31"/>
    </p:embeddedFont>
    <p:embeddedFont>
      <p:font typeface="Inter Bold" charset="1" panose="020B0802030000000004"/>
      <p:regular r:id="rId32"/>
    </p:embeddedFont>
    <p:embeddedFont>
      <p:font typeface="XM Vahid Bold" charset="1" panose="0200080309000002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arxiv.org/abs/2412.01929" TargetMode="External" Type="http://schemas.openxmlformats.org/officeDocument/2006/relationships/hyperlink"/><Relationship Id="rId4" Target="https://researchers.mq.edu.au/en/publications/end-to-end-sleep-apnea-detection-using-single-lead-ecg-signal-and/" TargetMode="External" Type="http://schemas.openxmlformats.org/officeDocument/2006/relationships/hyperlink"/><Relationship Id="rId5" Target="https://www.semanticscholar.org/paper/5dac6c758ab1c2b0763e7cc4fb0ef28baa9c4c06" TargetMode="External" Type="http://schemas.openxmlformats.org/officeDocument/2006/relationships/hyperlink"/><Relationship Id="rId6" Target="https://ieeexplore.ieee.org/document/10681551/" TargetMode="External" Type="http://schemas.openxmlformats.org/officeDocument/2006/relationships/hyperlink"/><Relationship Id="rId7" Target="https://github.com/khaledmaaiof-bot/Sleep-Stages-Classification.git" TargetMode="External" Type="http://schemas.openxmlformats.org/officeDocument/2006/relationships/hyperlink"/><Relationship Id="rId8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1105" y="2108832"/>
            <a:ext cx="16471183" cy="239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8"/>
              </a:lnSpc>
            </a:pPr>
            <a:r>
              <a:rPr lang="en-US" sz="849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Single-Channel ECG Sleep Stage Classification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30536" y="4718529"/>
            <a:ext cx="7487507" cy="42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24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 1D ResNet-34 on MESA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3026" y="8815009"/>
            <a:ext cx="220583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Supervisor: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51789" y="8815009"/>
            <a:ext cx="381349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Dr. Ibrahim Sadek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Eng. Merna Mansour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Eng. Veronicaa William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0536" y="5224892"/>
            <a:ext cx="7487507" cy="42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4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ive experimental variants · 5-class sleep staging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236299" y="4260170"/>
            <a:ext cx="7689735" cy="6026830"/>
          </a:xfrm>
          <a:custGeom>
            <a:avLst/>
            <a:gdLst/>
            <a:ahLst/>
            <a:cxnLst/>
            <a:rect r="r" b="b" t="t" l="l"/>
            <a:pathLst>
              <a:path h="6026830" w="7689735">
                <a:moveTo>
                  <a:pt x="0" y="0"/>
                </a:moveTo>
                <a:lnTo>
                  <a:pt x="7689735" y="0"/>
                </a:lnTo>
                <a:lnTo>
                  <a:pt x="7689735" y="6026830"/>
                </a:lnTo>
                <a:lnTo>
                  <a:pt x="0" y="6026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8697" y="2640724"/>
            <a:ext cx="16471183" cy="121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8"/>
              </a:lnSpc>
            </a:pPr>
            <a:r>
              <a:rPr lang="en-US" sz="849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TEAM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0" y="4410345"/>
            <a:ext cx="1899296" cy="5876655"/>
          </a:xfrm>
          <a:custGeom>
            <a:avLst/>
            <a:gdLst/>
            <a:ahLst/>
            <a:cxnLst/>
            <a:rect r="r" b="b" t="t" l="l"/>
            <a:pathLst>
              <a:path h="5876655" w="1899296">
                <a:moveTo>
                  <a:pt x="0" y="0"/>
                </a:moveTo>
                <a:lnTo>
                  <a:pt x="1899296" y="0"/>
                </a:lnTo>
                <a:lnTo>
                  <a:pt x="1899296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950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14571"/>
            <a:ext cx="7487507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Baraa Tariq</a:t>
            </a:r>
          </a:p>
          <a:p>
            <a:pPr algn="l" marL="863595" indent="-431797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Eslam Mohamed</a:t>
            </a:r>
          </a:p>
          <a:p>
            <a:pPr algn="l" marL="863595" indent="-431797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Khaled Maayouf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9526" y="114446"/>
            <a:ext cx="9767771" cy="140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HELWAN UNI.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</a:t>
            </a: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ulty of Engineering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 of Biomedical Engineering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03847"/>
            <a:ext cx="7487507" cy="113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BIO3609 – Bi</a:t>
            </a: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omedical Signal Processing Third Year – Biomedical Engineering Department Academic Year 2025-2026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77493"/>
            <a:ext cx="7487507" cy="75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</a:t>
            </a: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tHub: https://github.com/khaledmaaiof-bot/Sleep-Stages-Classification.git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16800" y="4260170"/>
            <a:ext cx="7689735" cy="6026830"/>
          </a:xfrm>
          <a:custGeom>
            <a:avLst/>
            <a:gdLst/>
            <a:ahLst/>
            <a:cxnLst/>
            <a:rect r="r" b="b" t="t" l="l"/>
            <a:pathLst>
              <a:path h="6026830" w="7689735">
                <a:moveTo>
                  <a:pt x="0" y="0"/>
                </a:moveTo>
                <a:lnTo>
                  <a:pt x="7689735" y="0"/>
                </a:lnTo>
                <a:lnTo>
                  <a:pt x="7689735" y="6026830"/>
                </a:lnTo>
                <a:lnTo>
                  <a:pt x="0" y="6026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997" y="148919"/>
            <a:ext cx="1028700" cy="1033889"/>
          </a:xfrm>
          <a:custGeom>
            <a:avLst/>
            <a:gdLst/>
            <a:ahLst/>
            <a:cxnLst/>
            <a:rect r="r" b="b" t="t" l="l"/>
            <a:pathLst>
              <a:path h="1033889" w="1028700">
                <a:moveTo>
                  <a:pt x="0" y="0"/>
                </a:moveTo>
                <a:lnTo>
                  <a:pt x="1028700" y="0"/>
                </a:lnTo>
                <a:lnTo>
                  <a:pt x="1028700" y="1033888"/>
                </a:lnTo>
                <a:lnTo>
                  <a:pt x="0" y="103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86938" y="270716"/>
            <a:ext cx="4801062" cy="5876655"/>
          </a:xfrm>
          <a:custGeom>
            <a:avLst/>
            <a:gdLst/>
            <a:ahLst/>
            <a:cxnLst/>
            <a:rect r="r" b="b" t="t" l="l"/>
            <a:pathLst>
              <a:path h="5876655" w="4801062">
                <a:moveTo>
                  <a:pt x="0" y="0"/>
                </a:moveTo>
                <a:lnTo>
                  <a:pt x="4801062" y="0"/>
                </a:lnTo>
                <a:lnTo>
                  <a:pt x="4801062" y="5876654"/>
                </a:lnTo>
                <a:lnTo>
                  <a:pt x="0" y="587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539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43" y="111897"/>
            <a:ext cx="1028700" cy="1033889"/>
          </a:xfrm>
          <a:custGeom>
            <a:avLst/>
            <a:gdLst/>
            <a:ahLst/>
            <a:cxnLst/>
            <a:rect r="r" b="b" t="t" l="l"/>
            <a:pathLst>
              <a:path h="1033889" w="1028700">
                <a:moveTo>
                  <a:pt x="0" y="0"/>
                </a:moveTo>
                <a:lnTo>
                  <a:pt x="1028700" y="0"/>
                </a:lnTo>
                <a:lnTo>
                  <a:pt x="1028700" y="1033889"/>
                </a:lnTo>
                <a:lnTo>
                  <a:pt x="0" y="103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8443" y="1554117"/>
            <a:ext cx="11603498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sz="65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Why sleep staging matters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9526" y="-522"/>
            <a:ext cx="9767771" cy="140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HELWAN UNI.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</a:t>
            </a: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ulty of Engineering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 of Biomedical Engineering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39798" y="567376"/>
            <a:ext cx="4948202" cy="5876655"/>
          </a:xfrm>
          <a:custGeom>
            <a:avLst/>
            <a:gdLst/>
            <a:ahLst/>
            <a:cxnLst/>
            <a:rect r="r" b="b" t="t" l="l"/>
            <a:pathLst>
              <a:path h="5876655" w="4948202">
                <a:moveTo>
                  <a:pt x="0" y="0"/>
                </a:moveTo>
                <a:lnTo>
                  <a:pt x="4948202" y="0"/>
                </a:lnTo>
                <a:lnTo>
                  <a:pt x="4948202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839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001983" y="4410345"/>
            <a:ext cx="3950474" cy="5876655"/>
          </a:xfrm>
          <a:custGeom>
            <a:avLst/>
            <a:gdLst/>
            <a:ahLst/>
            <a:cxnLst/>
            <a:rect r="r" b="b" t="t" l="l"/>
            <a:pathLst>
              <a:path h="5876655" w="3950474">
                <a:moveTo>
                  <a:pt x="0" y="0"/>
                </a:moveTo>
                <a:lnTo>
                  <a:pt x="3950474" y="0"/>
                </a:lnTo>
                <a:lnTo>
                  <a:pt x="3950474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8607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74926" y="2616472"/>
            <a:ext cx="1239373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Diagn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ose sleep apnea, insomnia, epilepsy, depression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Gold standard = Polysomnography (PSG) → expensive, obtrusive, lab-based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Requires EEG, EOG, EMG, ECG, airflow, SpO₂     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5677" y="4731023"/>
            <a:ext cx="1104008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</a:t>
            </a:r>
            <a:r>
              <a:rPr lang="en-US" b="true" sz="3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research question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46557" y="5601497"/>
            <a:ext cx="1051226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 we cla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ssify sleep stages using only one ECG channel?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0789" y="7014896"/>
            <a:ext cx="12913519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Wearable-friendly (smartwatches, patches)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Heart rate variabil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ity (HRV) reflects autonomic changes during sleep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Enables at-home, longitudinal monitoring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25677" y="6367831"/>
            <a:ext cx="284562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Why</a:t>
            </a:r>
            <a:r>
              <a:rPr lang="en-US" b="true" sz="3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ECG?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8492" y="9191625"/>
            <a:ext cx="110051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Based 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 MESA Sleep Study [1] and sleep medicine literature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7381" y="9448250"/>
            <a:ext cx="106223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Challenge: N1 is physiologically subtle on ECG alone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90304" y="293143"/>
            <a:ext cx="3197696" cy="5876655"/>
          </a:xfrm>
          <a:custGeom>
            <a:avLst/>
            <a:gdLst/>
            <a:ahLst/>
            <a:cxnLst/>
            <a:rect r="r" b="b" t="t" l="l"/>
            <a:pathLst>
              <a:path h="5876655" w="3197696">
                <a:moveTo>
                  <a:pt x="0" y="0"/>
                </a:moveTo>
                <a:lnTo>
                  <a:pt x="3197696" y="0"/>
                </a:lnTo>
                <a:lnTo>
                  <a:pt x="3197696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341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015" y="162071"/>
            <a:ext cx="1028700" cy="1033889"/>
          </a:xfrm>
          <a:custGeom>
            <a:avLst/>
            <a:gdLst/>
            <a:ahLst/>
            <a:cxnLst/>
            <a:rect r="r" b="b" t="t" l="l"/>
            <a:pathLst>
              <a:path h="1033889" w="1028700">
                <a:moveTo>
                  <a:pt x="0" y="0"/>
                </a:moveTo>
                <a:lnTo>
                  <a:pt x="1028700" y="0"/>
                </a:lnTo>
                <a:lnTo>
                  <a:pt x="1028700" y="1033889"/>
                </a:lnTo>
                <a:lnTo>
                  <a:pt x="0" y="1033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0" y="4410345"/>
            <a:ext cx="3314217" cy="5876655"/>
          </a:xfrm>
          <a:custGeom>
            <a:avLst/>
            <a:gdLst/>
            <a:ahLst/>
            <a:cxnLst/>
            <a:rect r="r" b="b" t="t" l="l"/>
            <a:pathLst>
              <a:path h="5876655" w="3314217">
                <a:moveTo>
                  <a:pt x="0" y="0"/>
                </a:moveTo>
                <a:lnTo>
                  <a:pt x="3314217" y="0"/>
                </a:lnTo>
                <a:lnTo>
                  <a:pt x="3314217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099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08858" y="3185588"/>
            <a:ext cx="10670283" cy="5968418"/>
          </a:xfrm>
          <a:custGeom>
            <a:avLst/>
            <a:gdLst/>
            <a:ahLst/>
            <a:cxnLst/>
            <a:rect r="r" b="b" t="t" l="l"/>
            <a:pathLst>
              <a:path h="5968418" w="10670283">
                <a:moveTo>
                  <a:pt x="0" y="0"/>
                </a:moveTo>
                <a:lnTo>
                  <a:pt x="10670284" y="0"/>
                </a:lnTo>
                <a:lnTo>
                  <a:pt x="10670284" y="5968419"/>
                </a:lnTo>
                <a:lnTo>
                  <a:pt x="0" y="5968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0756" y="1497636"/>
            <a:ext cx="7024101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sz="65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Task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9526" y="114446"/>
            <a:ext cx="9767771" cy="140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HELWAN UNI.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</a:t>
            </a: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ulty of Engineering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 of Biomedical Engineering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14217" y="2445691"/>
            <a:ext cx="902610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 sleep stages (30-second epochs)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8697" y="1742574"/>
            <a:ext cx="15049727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sz="65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Dataset – MESA Sleep Study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9526" y="114446"/>
            <a:ext cx="9767771" cy="140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HELWAN UNI.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</a:t>
            </a: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ulty of Engineering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 of Biomedical Engineering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4664" y="2879921"/>
            <a:ext cx="1261344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Multi-Ethnic Study </a:t>
            </a: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 Atherosclerosis (MESA)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001" y="3700279"/>
            <a:ext cx="10550985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rnight polysomnography with ECG + expert annotations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Annotated in 30-second epochs by sleep specialists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79526" y="5621155"/>
            <a:ext cx="12483495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50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Our extraction: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001" y="6400617"/>
            <a:ext cx="985992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 ECG channel 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(no EEG, EMG, EOG)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Resampled to 256 Hz → 7,680 samples per window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Bandpass filter: 0.5 – 40 Hz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02353" y="8519929"/>
            <a:ext cx="826627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Split: 80%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train / 10% val / 10% test (stratified)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236299" y="4260170"/>
            <a:ext cx="7689735" cy="6026830"/>
          </a:xfrm>
          <a:custGeom>
            <a:avLst/>
            <a:gdLst/>
            <a:ahLst/>
            <a:cxnLst/>
            <a:rect r="r" b="b" t="t" l="l"/>
            <a:pathLst>
              <a:path h="6026830" w="7689735">
                <a:moveTo>
                  <a:pt x="0" y="0"/>
                </a:moveTo>
                <a:lnTo>
                  <a:pt x="7689735" y="0"/>
                </a:lnTo>
                <a:lnTo>
                  <a:pt x="7689735" y="6026830"/>
                </a:lnTo>
                <a:lnTo>
                  <a:pt x="0" y="6026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997" y="148919"/>
            <a:ext cx="1028700" cy="1033889"/>
          </a:xfrm>
          <a:custGeom>
            <a:avLst/>
            <a:gdLst/>
            <a:ahLst/>
            <a:cxnLst/>
            <a:rect r="r" b="b" t="t" l="l"/>
            <a:pathLst>
              <a:path h="1033889" w="1028700">
                <a:moveTo>
                  <a:pt x="0" y="0"/>
                </a:moveTo>
                <a:lnTo>
                  <a:pt x="1028700" y="0"/>
                </a:lnTo>
                <a:lnTo>
                  <a:pt x="1028700" y="1033888"/>
                </a:lnTo>
                <a:lnTo>
                  <a:pt x="0" y="103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347" y="1497636"/>
            <a:ext cx="16614953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sz="65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Five Experimental Variants – Overview</a:t>
            </a:r>
          </a:p>
          <a:p>
            <a:pPr algn="l">
              <a:lnSpc>
                <a:spcPts val="806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1390" y="3522016"/>
            <a:ext cx="16827980" cy="5340618"/>
          </a:xfrm>
          <a:custGeom>
            <a:avLst/>
            <a:gdLst/>
            <a:ahLst/>
            <a:cxnLst/>
            <a:rect r="r" b="b" t="t" l="l"/>
            <a:pathLst>
              <a:path h="5340618" w="16827980">
                <a:moveTo>
                  <a:pt x="0" y="0"/>
                </a:moveTo>
                <a:lnTo>
                  <a:pt x="16827980" y="0"/>
                </a:lnTo>
                <a:lnTo>
                  <a:pt x="16827980" y="5340618"/>
                </a:lnTo>
                <a:lnTo>
                  <a:pt x="0" y="5340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716" r="0" b="-671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790451"/>
            <a:ext cx="134550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systematically c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ompared five data balancing strategies: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2377" y="9005509"/>
            <a:ext cx="1165671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other components (model, split, loss) kept identical → fair comparison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997" y="148919"/>
            <a:ext cx="10917300" cy="1367767"/>
            <a:chOff x="0" y="0"/>
            <a:chExt cx="14556400" cy="182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532705" y="-30088"/>
              <a:ext cx="13023695" cy="1853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21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HELWAN UNI.</a:t>
              </a:r>
            </a:p>
            <a:p>
              <a:pPr algn="l">
                <a:lnSpc>
                  <a:spcPts val="2616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Fac</a:t>
              </a:r>
              <a:r>
                <a:rPr lang="en-US" sz="18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ulty of Engineering</a:t>
              </a:r>
            </a:p>
            <a:p>
              <a:pPr algn="l">
                <a:lnSpc>
                  <a:spcPts val="2616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Department of Biomedical Engineering</a:t>
              </a:r>
            </a:p>
            <a:p>
              <a:pPr algn="ctr">
                <a:lnSpc>
                  <a:spcPts val="303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200" y="1640626"/>
            <a:ext cx="16471183" cy="121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8"/>
              </a:lnSpc>
            </a:pPr>
            <a:r>
              <a:rPr lang="en-US" sz="849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Data Preprocessing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4735" y="3158265"/>
            <a:ext cx="1290881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Step-by-step (identical f</a:t>
            </a:r>
            <a:r>
              <a:rPr lang="en-US" b="true" sz="3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or all variants):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7813" y="4105400"/>
            <a:ext cx="10122575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 EDF + XML annotation (pyEDFlib)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Extract ECG channel (label contains 'ECG'/'EKG')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Bandpass filter (0.5–40 Hz, zer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o-phase Butterworth)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Resample to 256 Hz (uniform sampling)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Parse XML sleep stages → map to 0–4 integer labels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Slice 30-second windows (7,680 samples)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Z-score normalize per window (mean=0, std=1)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65033" y="8865711"/>
            <a:ext cx="1534150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ratified split BEFORE any augmentation → prevents data leakage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4347" y="3547309"/>
            <a:ext cx="17202787" cy="6193003"/>
          </a:xfrm>
          <a:custGeom>
            <a:avLst/>
            <a:gdLst/>
            <a:ahLst/>
            <a:cxnLst/>
            <a:rect r="r" b="b" t="t" l="l"/>
            <a:pathLst>
              <a:path h="6193003" w="17202787">
                <a:moveTo>
                  <a:pt x="0" y="0"/>
                </a:moveTo>
                <a:lnTo>
                  <a:pt x="17202787" y="0"/>
                </a:lnTo>
                <a:lnTo>
                  <a:pt x="17202787" y="6193003"/>
                </a:lnTo>
                <a:lnTo>
                  <a:pt x="0" y="6193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8091" y="1536359"/>
            <a:ext cx="14666014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Manual Augmentation (V3, V4, V6)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5182" y="2502698"/>
            <a:ext cx="1060781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ugment_ecg() – stochastic transformations: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54" y="157579"/>
            <a:ext cx="4175632" cy="1033889"/>
            <a:chOff x="0" y="0"/>
            <a:chExt cx="5567510" cy="1378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8091" y="1536359"/>
            <a:ext cx="14666014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Manual Augmentation (V3, V4, V6)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1177" y="3052640"/>
            <a:ext cx="677952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alancing logic: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0" y="4973516"/>
            <a:ext cx="5010178" cy="5313484"/>
          </a:xfrm>
          <a:custGeom>
            <a:avLst/>
            <a:gdLst/>
            <a:ahLst/>
            <a:cxnLst/>
            <a:rect r="r" b="b" t="t" l="l"/>
            <a:pathLst>
              <a:path h="5313484" w="5010178">
                <a:moveTo>
                  <a:pt x="0" y="0"/>
                </a:moveTo>
                <a:lnTo>
                  <a:pt x="5010178" y="0"/>
                </a:lnTo>
                <a:lnTo>
                  <a:pt x="5010178" y="5313484"/>
                </a:lnTo>
                <a:lnTo>
                  <a:pt x="0" y="5313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98" r="-12556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1177" y="3878141"/>
            <a:ext cx="12224622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ompute target = min_class_count × oversample_factor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Minority classes → synthetic samples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Majority classes → random downsampling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236299" y="4260170"/>
            <a:ext cx="7689735" cy="6026830"/>
          </a:xfrm>
          <a:custGeom>
            <a:avLst/>
            <a:gdLst/>
            <a:ahLst/>
            <a:cxnLst/>
            <a:rect r="r" b="b" t="t" l="l"/>
            <a:pathLst>
              <a:path h="6026830" w="7689735">
                <a:moveTo>
                  <a:pt x="0" y="0"/>
                </a:moveTo>
                <a:lnTo>
                  <a:pt x="7689735" y="0"/>
                </a:lnTo>
                <a:lnTo>
                  <a:pt x="7689735" y="6026830"/>
                </a:lnTo>
                <a:lnTo>
                  <a:pt x="0" y="6026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0765" y="1608666"/>
            <a:ext cx="14065004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SMOTE (V7) – A Different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17813" y="2771343"/>
            <a:ext cx="1396163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SMOTE = Synthetic Min</a:t>
            </a:r>
            <a:r>
              <a:rPr lang="en-US" sz="3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ority Over-sampling Technique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0" y="4692785"/>
            <a:ext cx="4020218" cy="5594215"/>
          </a:xfrm>
          <a:custGeom>
            <a:avLst/>
            <a:gdLst/>
            <a:ahLst/>
            <a:cxnLst/>
            <a:rect r="r" b="b" t="t" l="l"/>
            <a:pathLst>
              <a:path h="5594215" w="4020218">
                <a:moveTo>
                  <a:pt x="0" y="0"/>
                </a:moveTo>
                <a:lnTo>
                  <a:pt x="4020218" y="0"/>
                </a:lnTo>
                <a:lnTo>
                  <a:pt x="4020218" y="5594215"/>
                </a:lnTo>
                <a:lnTo>
                  <a:pt x="0" y="5594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48" r="-18111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7813" y="3600018"/>
            <a:ext cx="1857545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Generates samples by linear interp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olation between real samples in feature space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signal-domain transforms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17813" y="4962093"/>
            <a:ext cx="758428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Our i</a:t>
            </a: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mplementation: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05600" y="5790768"/>
            <a:ext cx="9134517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K-neighbors = 5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Oversample factor = 10× min class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Maj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ority classes not downsampled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7813" y="7413193"/>
            <a:ext cx="62154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Key li</a:t>
            </a: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mitation: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5600" y="8326835"/>
            <a:ext cx="146537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Linearly interpolated ECG wind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ows may not be physiologically valid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96370" y="345420"/>
            <a:ext cx="3991630" cy="5876655"/>
          </a:xfrm>
          <a:custGeom>
            <a:avLst/>
            <a:gdLst/>
            <a:ahLst/>
            <a:cxnLst/>
            <a:rect r="r" b="b" t="t" l="l"/>
            <a:pathLst>
              <a:path h="5876655" w="3991630">
                <a:moveTo>
                  <a:pt x="0" y="0"/>
                </a:moveTo>
                <a:lnTo>
                  <a:pt x="3991630" y="0"/>
                </a:lnTo>
                <a:lnTo>
                  <a:pt x="39916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31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17813" y="3283748"/>
            <a:ext cx="12931691" cy="6208627"/>
          </a:xfrm>
          <a:custGeom>
            <a:avLst/>
            <a:gdLst/>
            <a:ahLst/>
            <a:cxnLst/>
            <a:rect r="r" b="b" t="t" l="l"/>
            <a:pathLst>
              <a:path h="6208627" w="12931691">
                <a:moveTo>
                  <a:pt x="0" y="0"/>
                </a:moveTo>
                <a:lnTo>
                  <a:pt x="12931691" y="0"/>
                </a:lnTo>
                <a:lnTo>
                  <a:pt x="12931691" y="6208627"/>
                </a:lnTo>
                <a:lnTo>
                  <a:pt x="0" y="6208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6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56700"/>
            <a:ext cx="15359293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Model Architecture – 1D ResNet-34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8382" y="2502698"/>
            <a:ext cx="1483654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Adapted f</a:t>
            </a:r>
            <a:r>
              <a:rPr lang="en-US" sz="3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 time-series ECG (~21M parameters)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8432" y="9591675"/>
            <a:ext cx="113742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Resid</a:t>
            </a: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ual connections enable deep training without degradation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95996" y="2569373"/>
            <a:ext cx="5626953" cy="5502218"/>
          </a:xfrm>
          <a:custGeom>
            <a:avLst/>
            <a:gdLst/>
            <a:ahLst/>
            <a:cxnLst/>
            <a:rect r="r" b="b" t="t" l="l"/>
            <a:pathLst>
              <a:path h="5502218" w="5626953">
                <a:moveTo>
                  <a:pt x="0" y="0"/>
                </a:moveTo>
                <a:lnTo>
                  <a:pt x="5626953" y="0"/>
                </a:lnTo>
                <a:lnTo>
                  <a:pt x="5626953" y="5502217"/>
                </a:lnTo>
                <a:lnTo>
                  <a:pt x="0" y="5502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142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8111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819" y="2473689"/>
            <a:ext cx="15077428" cy="5993278"/>
          </a:xfrm>
          <a:custGeom>
            <a:avLst/>
            <a:gdLst/>
            <a:ahLst/>
            <a:cxnLst/>
            <a:rect r="r" b="b" t="t" l="l"/>
            <a:pathLst>
              <a:path h="5993278" w="15077428">
                <a:moveTo>
                  <a:pt x="0" y="0"/>
                </a:moveTo>
                <a:lnTo>
                  <a:pt x="15077429" y="0"/>
                </a:lnTo>
                <a:lnTo>
                  <a:pt x="15077429" y="5993278"/>
                </a:lnTo>
                <a:lnTo>
                  <a:pt x="0" y="5993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8432" y="1239957"/>
            <a:ext cx="16760568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Training Configuration (Shared)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0144" y="8586374"/>
            <a:ext cx="15284833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class weights?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Nat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ural class imbalance (N1 and N3 are rare) → penalizes errors on minority classes more strongly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14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7352" y="2645647"/>
            <a:ext cx="17542727" cy="5525959"/>
          </a:xfrm>
          <a:custGeom>
            <a:avLst/>
            <a:gdLst/>
            <a:ahLst/>
            <a:cxnLst/>
            <a:rect r="r" b="b" t="t" l="l"/>
            <a:pathLst>
              <a:path h="5525959" w="17542727">
                <a:moveTo>
                  <a:pt x="0" y="0"/>
                </a:moveTo>
                <a:lnTo>
                  <a:pt x="17542728" y="0"/>
                </a:lnTo>
                <a:lnTo>
                  <a:pt x="17542728" y="5525959"/>
                </a:lnTo>
                <a:lnTo>
                  <a:pt x="0" y="5525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8432" y="1239957"/>
            <a:ext cx="16760568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Key Results – Test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17813" y="8666906"/>
            <a:ext cx="1473016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V6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achieved highest test accuracy (84.25%) and Kappa (0.7671)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869" y="1627879"/>
            <a:ext cx="8338501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Confusion Matrix V3</a:t>
            </a:r>
          </a:p>
          <a:p>
            <a:pPr algn="l">
              <a:lnSpc>
                <a:spcPts val="665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18921" y="2447343"/>
            <a:ext cx="8764894" cy="7725328"/>
          </a:xfrm>
          <a:custGeom>
            <a:avLst/>
            <a:gdLst/>
            <a:ahLst/>
            <a:cxnLst/>
            <a:rect r="r" b="b" t="t" l="l"/>
            <a:pathLst>
              <a:path h="7725328" w="8764894">
                <a:moveTo>
                  <a:pt x="0" y="0"/>
                </a:moveTo>
                <a:lnTo>
                  <a:pt x="8764894" y="0"/>
                </a:lnTo>
                <a:lnTo>
                  <a:pt x="8764894" y="7725328"/>
                </a:lnTo>
                <a:lnTo>
                  <a:pt x="0" y="7725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5" t="0" r="-36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997" y="2447343"/>
            <a:ext cx="8854244" cy="7725328"/>
          </a:xfrm>
          <a:custGeom>
            <a:avLst/>
            <a:gdLst/>
            <a:ahLst/>
            <a:cxnLst/>
            <a:rect r="r" b="b" t="t" l="l"/>
            <a:pathLst>
              <a:path h="7725328" w="8854244">
                <a:moveTo>
                  <a:pt x="0" y="0"/>
                </a:moveTo>
                <a:lnTo>
                  <a:pt x="8854244" y="0"/>
                </a:lnTo>
                <a:lnTo>
                  <a:pt x="8854244" y="7725328"/>
                </a:lnTo>
                <a:lnTo>
                  <a:pt x="0" y="7725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32118" y="1627879"/>
            <a:ext cx="8338501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Confusion Matrix V6</a:t>
            </a:r>
          </a:p>
          <a:p>
            <a:pPr algn="l">
              <a:lnSpc>
                <a:spcPts val="665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43496" y="483158"/>
            <a:ext cx="4744504" cy="5876655"/>
          </a:xfrm>
          <a:custGeom>
            <a:avLst/>
            <a:gdLst/>
            <a:ahLst/>
            <a:cxnLst/>
            <a:rect r="r" b="b" t="t" l="l"/>
            <a:pathLst>
              <a:path h="5876655" w="4744504">
                <a:moveTo>
                  <a:pt x="0" y="0"/>
                </a:moveTo>
                <a:lnTo>
                  <a:pt x="4744504" y="0"/>
                </a:lnTo>
                <a:lnTo>
                  <a:pt x="4744504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819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47008" y="2746236"/>
            <a:ext cx="5212292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V3 Training curve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986741" y="6359813"/>
            <a:ext cx="11301259" cy="3927187"/>
          </a:xfrm>
          <a:custGeom>
            <a:avLst/>
            <a:gdLst/>
            <a:ahLst/>
            <a:cxnLst/>
            <a:rect r="r" b="b" t="t" l="l"/>
            <a:pathLst>
              <a:path h="3927187" w="11301259">
                <a:moveTo>
                  <a:pt x="0" y="0"/>
                </a:moveTo>
                <a:lnTo>
                  <a:pt x="11301259" y="0"/>
                </a:lnTo>
                <a:lnTo>
                  <a:pt x="11301259" y="3927187"/>
                </a:lnTo>
                <a:lnTo>
                  <a:pt x="0" y="3927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0" y="5819048"/>
            <a:ext cx="4020218" cy="4467952"/>
          </a:xfrm>
          <a:custGeom>
            <a:avLst/>
            <a:gdLst/>
            <a:ahLst/>
            <a:cxnLst/>
            <a:rect r="r" b="b" t="t" l="l"/>
            <a:pathLst>
              <a:path h="4467952" w="4020218">
                <a:moveTo>
                  <a:pt x="0" y="0"/>
                </a:moveTo>
                <a:lnTo>
                  <a:pt x="4020218" y="0"/>
                </a:lnTo>
                <a:lnTo>
                  <a:pt x="4020218" y="4467952"/>
                </a:lnTo>
                <a:lnTo>
                  <a:pt x="0" y="4467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4" t="-26976" r="-185061" b="-680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997" y="1891861"/>
            <a:ext cx="11301259" cy="3927187"/>
          </a:xfrm>
          <a:custGeom>
            <a:avLst/>
            <a:gdLst/>
            <a:ahLst/>
            <a:cxnLst/>
            <a:rect r="r" b="b" t="t" l="l"/>
            <a:pathLst>
              <a:path h="3927187" w="11301259">
                <a:moveTo>
                  <a:pt x="0" y="0"/>
                </a:moveTo>
                <a:lnTo>
                  <a:pt x="11301259" y="0"/>
                </a:lnTo>
                <a:lnTo>
                  <a:pt x="11301259" y="3927187"/>
                </a:lnTo>
                <a:lnTo>
                  <a:pt x="0" y="3927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503943"/>
            <a:ext cx="5212292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V6 Training curve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55311" y="377980"/>
            <a:ext cx="5632689" cy="5876655"/>
          </a:xfrm>
          <a:custGeom>
            <a:avLst/>
            <a:gdLst/>
            <a:ahLst/>
            <a:cxnLst/>
            <a:rect r="r" b="b" t="t" l="l"/>
            <a:pathLst>
              <a:path h="5876655" w="5632689">
                <a:moveTo>
                  <a:pt x="0" y="0"/>
                </a:moveTo>
                <a:lnTo>
                  <a:pt x="5632689" y="0"/>
                </a:lnTo>
                <a:lnTo>
                  <a:pt x="5632689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063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73759" y="1949011"/>
            <a:ext cx="4572668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Per Class Report V3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9997" y="1891861"/>
            <a:ext cx="7832107" cy="5427901"/>
          </a:xfrm>
          <a:custGeom>
            <a:avLst/>
            <a:gdLst/>
            <a:ahLst/>
            <a:cxnLst/>
            <a:rect r="r" b="b" t="t" l="l"/>
            <a:pathLst>
              <a:path h="5427901" w="7832107">
                <a:moveTo>
                  <a:pt x="0" y="0"/>
                </a:moveTo>
                <a:lnTo>
                  <a:pt x="7832107" y="0"/>
                </a:lnTo>
                <a:lnTo>
                  <a:pt x="7832107" y="5427901"/>
                </a:lnTo>
                <a:lnTo>
                  <a:pt x="0" y="5427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1575" y="4616242"/>
            <a:ext cx="7990403" cy="5407039"/>
          </a:xfrm>
          <a:custGeom>
            <a:avLst/>
            <a:gdLst/>
            <a:ahLst/>
            <a:cxnLst/>
            <a:rect r="r" b="b" t="t" l="l"/>
            <a:pathLst>
              <a:path h="5407039" w="7990403">
                <a:moveTo>
                  <a:pt x="0" y="0"/>
                </a:moveTo>
                <a:lnTo>
                  <a:pt x="7990403" y="0"/>
                </a:lnTo>
                <a:lnTo>
                  <a:pt x="7990403" y="5407040"/>
                </a:lnTo>
                <a:lnTo>
                  <a:pt x="0" y="5407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55269" y="8327205"/>
            <a:ext cx="4572668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Per Class Report V6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0" y="7348673"/>
            <a:ext cx="4046051" cy="2938327"/>
          </a:xfrm>
          <a:custGeom>
            <a:avLst/>
            <a:gdLst/>
            <a:ahLst/>
            <a:cxnLst/>
            <a:rect r="r" b="b" t="t" l="l"/>
            <a:pathLst>
              <a:path h="2938327" w="4046051">
                <a:moveTo>
                  <a:pt x="0" y="0"/>
                </a:moveTo>
                <a:lnTo>
                  <a:pt x="4046051" y="0"/>
                </a:lnTo>
                <a:lnTo>
                  <a:pt x="4046051" y="2938327"/>
                </a:lnTo>
                <a:lnTo>
                  <a:pt x="0" y="2938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0000" r="-179315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8432" y="1239957"/>
            <a:ext cx="10588337" cy="253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Confusion Matrix Analysis (V6 Best Performer)</a:t>
            </a:r>
          </a:p>
          <a:p>
            <a:pPr algn="l">
              <a:lnSpc>
                <a:spcPts val="665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575646" y="3250360"/>
            <a:ext cx="886569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</a:t>
            </a:r>
            <a:r>
              <a:rPr lang="en-US" sz="3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observations: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666848" y="378707"/>
            <a:ext cx="5621152" cy="5876655"/>
          </a:xfrm>
          <a:custGeom>
            <a:avLst/>
            <a:gdLst/>
            <a:ahLst/>
            <a:cxnLst/>
            <a:rect r="r" b="b" t="t" l="l"/>
            <a:pathLst>
              <a:path h="5876655" w="5621152">
                <a:moveTo>
                  <a:pt x="0" y="0"/>
                </a:moveTo>
                <a:lnTo>
                  <a:pt x="5621152" y="0"/>
                </a:lnTo>
                <a:lnTo>
                  <a:pt x="5621152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104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5182" y="4151884"/>
            <a:ext cx="11425880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Wake → excellent (92% correct, only 3% to N2)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N2    → very good (85% correct)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REM → good (83% correct)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N3    → good (69% correct, 30% confused with N2)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453321" y="6695059"/>
            <a:ext cx="1363585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ncreasing the oversampling ratio from 6.4x (V4) to 10x (V3) significantly boosted the N1 classification accuracy from 23% to 37%.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0" y="5143500"/>
            <a:ext cx="3992013" cy="5143500"/>
          </a:xfrm>
          <a:custGeom>
            <a:avLst/>
            <a:gdLst/>
            <a:ahLst/>
            <a:cxnLst/>
            <a:rect r="r" b="b" t="t" l="l"/>
            <a:pathLst>
              <a:path h="5143500" w="3992013">
                <a:moveTo>
                  <a:pt x="0" y="0"/>
                </a:moveTo>
                <a:lnTo>
                  <a:pt x="3992013" y="0"/>
                </a:lnTo>
                <a:lnTo>
                  <a:pt x="399201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254" r="-183096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6769" y="665863"/>
            <a:ext cx="6701231" cy="5876655"/>
          </a:xfrm>
          <a:custGeom>
            <a:avLst/>
            <a:gdLst/>
            <a:ahLst/>
            <a:cxnLst/>
            <a:rect r="r" b="b" t="t" l="l"/>
            <a:pathLst>
              <a:path h="5876655" w="6701231">
                <a:moveTo>
                  <a:pt x="0" y="0"/>
                </a:moveTo>
                <a:lnTo>
                  <a:pt x="6701231" y="0"/>
                </a:lnTo>
                <a:lnTo>
                  <a:pt x="6701231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86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8432" y="1239957"/>
            <a:ext cx="10588337" cy="16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Confusion Matrix Analysis (V6 Best Performer)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0" y="5143500"/>
            <a:ext cx="4020218" cy="5143500"/>
          </a:xfrm>
          <a:custGeom>
            <a:avLst/>
            <a:gdLst/>
            <a:ahLst/>
            <a:cxnLst/>
            <a:rect r="r" b="b" t="t" l="l"/>
            <a:pathLst>
              <a:path h="5143500" w="4020218">
                <a:moveTo>
                  <a:pt x="0" y="0"/>
                </a:moveTo>
                <a:lnTo>
                  <a:pt x="4020218" y="0"/>
                </a:lnTo>
                <a:lnTo>
                  <a:pt x="402021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254" r="-1811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9097" y="3465987"/>
            <a:ext cx="11296263" cy="359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ommon error patterns (physiologically expected):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N1 ↔ N2 confusion (adjacent stages, subtle HRV differences)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N3 ↔ N2 confusion (deep vs light slow-wave)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29097" y="7639050"/>
            <a:ext cx="11296263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 overall: V6 (84.25% Acc, Kappa=0.767)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95996" y="2569373"/>
            <a:ext cx="5626953" cy="5502218"/>
          </a:xfrm>
          <a:custGeom>
            <a:avLst/>
            <a:gdLst/>
            <a:ahLst/>
            <a:cxnLst/>
            <a:rect r="r" b="b" t="t" l="l"/>
            <a:pathLst>
              <a:path h="5502218" w="5626953">
                <a:moveTo>
                  <a:pt x="0" y="0"/>
                </a:moveTo>
                <a:lnTo>
                  <a:pt x="5626953" y="0"/>
                </a:lnTo>
                <a:lnTo>
                  <a:pt x="5626953" y="5502217"/>
                </a:lnTo>
                <a:lnTo>
                  <a:pt x="0" y="5502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5070" y="293143"/>
            <a:ext cx="2962930" cy="5876655"/>
          </a:xfrm>
          <a:custGeom>
            <a:avLst/>
            <a:gdLst/>
            <a:ahLst/>
            <a:cxnLst/>
            <a:rect r="r" b="b" t="t" l="l"/>
            <a:pathLst>
              <a:path h="5876655" w="2962930">
                <a:moveTo>
                  <a:pt x="0" y="0"/>
                </a:moveTo>
                <a:lnTo>
                  <a:pt x="2962930" y="0"/>
                </a:lnTo>
                <a:lnTo>
                  <a:pt x="2962930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142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5320482"/>
            <a:ext cx="4020218" cy="4966518"/>
          </a:xfrm>
          <a:custGeom>
            <a:avLst/>
            <a:gdLst/>
            <a:ahLst/>
            <a:cxnLst/>
            <a:rect r="r" b="b" t="t" l="l"/>
            <a:pathLst>
              <a:path h="4966518" w="4020218">
                <a:moveTo>
                  <a:pt x="0" y="0"/>
                </a:moveTo>
                <a:lnTo>
                  <a:pt x="4020218" y="0"/>
                </a:lnTo>
                <a:lnTo>
                  <a:pt x="4020218" y="4966518"/>
                </a:lnTo>
                <a:lnTo>
                  <a:pt x="0" y="4966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325" r="-18111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69373"/>
            <a:ext cx="16230600" cy="6370510"/>
          </a:xfrm>
          <a:custGeom>
            <a:avLst/>
            <a:gdLst/>
            <a:ahLst/>
            <a:cxnLst/>
            <a:rect r="r" b="b" t="t" l="l"/>
            <a:pathLst>
              <a:path h="6370510" w="16230600">
                <a:moveTo>
                  <a:pt x="0" y="0"/>
                </a:moveTo>
                <a:lnTo>
                  <a:pt x="16230600" y="0"/>
                </a:lnTo>
                <a:lnTo>
                  <a:pt x="16230600" y="6370510"/>
                </a:lnTo>
                <a:lnTo>
                  <a:pt x="0" y="6370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8432" y="1239957"/>
            <a:ext cx="16260868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Version Comparison – What We Learned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61408"/>
            <a:ext cx="4175632" cy="1033889"/>
            <a:chOff x="0" y="0"/>
            <a:chExt cx="5567510" cy="1378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3381645"/>
            <a:ext cx="8028592" cy="5876655"/>
          </a:xfrm>
          <a:custGeom>
            <a:avLst/>
            <a:gdLst/>
            <a:ahLst/>
            <a:cxnLst/>
            <a:rect r="r" b="b" t="t" l="l"/>
            <a:pathLst>
              <a:path h="5876655" w="8028592">
                <a:moveTo>
                  <a:pt x="0" y="0"/>
                </a:moveTo>
                <a:lnTo>
                  <a:pt x="8028592" y="0"/>
                </a:lnTo>
                <a:lnTo>
                  <a:pt x="8028592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07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95996" y="2569373"/>
            <a:ext cx="5626953" cy="5502218"/>
          </a:xfrm>
          <a:custGeom>
            <a:avLst/>
            <a:gdLst/>
            <a:ahLst/>
            <a:cxnLst/>
            <a:rect r="r" b="b" t="t" l="l"/>
            <a:pathLst>
              <a:path h="5502218" w="5626953">
                <a:moveTo>
                  <a:pt x="0" y="0"/>
                </a:moveTo>
                <a:lnTo>
                  <a:pt x="5626953" y="0"/>
                </a:lnTo>
                <a:lnTo>
                  <a:pt x="5626953" y="5502217"/>
                </a:lnTo>
                <a:lnTo>
                  <a:pt x="0" y="5502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22949" y="665863"/>
            <a:ext cx="6065051" cy="5876655"/>
          </a:xfrm>
          <a:custGeom>
            <a:avLst/>
            <a:gdLst/>
            <a:ahLst/>
            <a:cxnLst/>
            <a:rect r="r" b="b" t="t" l="l"/>
            <a:pathLst>
              <a:path h="5876655" w="6065051">
                <a:moveTo>
                  <a:pt x="0" y="0"/>
                </a:moveTo>
                <a:lnTo>
                  <a:pt x="6065051" y="0"/>
                </a:lnTo>
                <a:lnTo>
                  <a:pt x="6065051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633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5182" y="2569373"/>
            <a:ext cx="15354118" cy="5738601"/>
          </a:xfrm>
          <a:custGeom>
            <a:avLst/>
            <a:gdLst/>
            <a:ahLst/>
            <a:cxnLst/>
            <a:rect r="r" b="b" t="t" l="l"/>
            <a:pathLst>
              <a:path h="5738601" w="15354118">
                <a:moveTo>
                  <a:pt x="0" y="0"/>
                </a:moveTo>
                <a:lnTo>
                  <a:pt x="15354118" y="0"/>
                </a:lnTo>
                <a:lnTo>
                  <a:pt x="15354118" y="5738601"/>
                </a:lnTo>
                <a:lnTo>
                  <a:pt x="0" y="5738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8432" y="1239957"/>
            <a:ext cx="13464287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Val–Test Generalization Gap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5182" y="8736599"/>
            <a:ext cx="132053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V6 is the </a:t>
            </a: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version where test accuracy exceeded validation accuracy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8432" y="1239957"/>
            <a:ext cx="10588337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Limitations &amp; Challenges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62754" y="316265"/>
            <a:ext cx="5225246" cy="5876655"/>
          </a:xfrm>
          <a:custGeom>
            <a:avLst/>
            <a:gdLst/>
            <a:ahLst/>
            <a:cxnLst/>
            <a:rect r="r" b="b" t="t" l="l"/>
            <a:pathLst>
              <a:path h="5876655" w="5225246">
                <a:moveTo>
                  <a:pt x="0" y="0"/>
                </a:moveTo>
                <a:lnTo>
                  <a:pt x="5225246" y="0"/>
                </a:lnTo>
                <a:lnTo>
                  <a:pt x="5225246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628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4335258"/>
            <a:ext cx="4020218" cy="5876655"/>
          </a:xfrm>
          <a:custGeom>
            <a:avLst/>
            <a:gdLst/>
            <a:ahLst/>
            <a:cxnLst/>
            <a:rect r="r" b="b" t="t" l="l"/>
            <a:pathLst>
              <a:path h="5876655" w="4020218">
                <a:moveTo>
                  <a:pt x="0" y="0"/>
                </a:moveTo>
                <a:lnTo>
                  <a:pt x="4020218" y="0"/>
                </a:lnTo>
                <a:lnTo>
                  <a:pt x="402021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1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5182" y="3197442"/>
            <a:ext cx="1235815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N1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inherently ambiguous on ECG alone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Cannot capture EEG-specific markers (spindles, K-complexes, delta waves)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9097" y="2246787"/>
            <a:ext cx="1058833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Physi</a:t>
            </a: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ological limitations: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5182" y="5437147"/>
            <a:ext cx="1235815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SMOTE-ge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nerated ECGs not physiologically guaranteed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Performance may degrade for arrhythmias not in MESA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9097" y="4790370"/>
            <a:ext cx="1058833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Techn</a:t>
            </a: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ical limitations: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5182" y="7676852"/>
            <a:ext cx="1235815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app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roved for clinical diagnosis (research only)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equires reliable R-peak detection (motion artifacts in wearables)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9097" y="6726197"/>
            <a:ext cx="1058833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Clin</a:t>
            </a:r>
            <a:r>
              <a:rPr lang="en-US" b="true" sz="3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ical limitations: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8432" y="1239957"/>
            <a:ext cx="10588337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Conclusions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48422" y="349701"/>
            <a:ext cx="3839578" cy="5876655"/>
          </a:xfrm>
          <a:custGeom>
            <a:avLst/>
            <a:gdLst/>
            <a:ahLst/>
            <a:cxnLst/>
            <a:rect r="r" b="b" t="t" l="l"/>
            <a:pathLst>
              <a:path h="5876655" w="3839578">
                <a:moveTo>
                  <a:pt x="0" y="0"/>
                </a:moveTo>
                <a:lnTo>
                  <a:pt x="3839578" y="0"/>
                </a:lnTo>
                <a:lnTo>
                  <a:pt x="3839578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943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4786526"/>
            <a:ext cx="4020218" cy="5500474"/>
          </a:xfrm>
          <a:custGeom>
            <a:avLst/>
            <a:gdLst/>
            <a:ahLst/>
            <a:cxnLst/>
            <a:rect r="r" b="b" t="t" l="l"/>
            <a:pathLst>
              <a:path h="5500474" w="4020218">
                <a:moveTo>
                  <a:pt x="0" y="0"/>
                </a:moveTo>
                <a:lnTo>
                  <a:pt x="4020218" y="0"/>
                </a:lnTo>
                <a:lnTo>
                  <a:pt x="4020218" y="5500474"/>
                </a:lnTo>
                <a:lnTo>
                  <a:pt x="0" y="5500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39" r="-1811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6941" y="2489351"/>
            <a:ext cx="15354118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Yes, a single-channel ECG can classify sleep stages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model (V6): 84.25% test accuracy, Kappa = 0.7671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Manual ECG augmentation (noise, scaling, shift, wander) outperforms SMOTE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Larger batch size (32) improves gradient stability and generalization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Oversampling is critical – without it, model collapses (V5: 45.9%)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N1 remains challenging – future work needs better features or multimodal data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8432" y="1239957"/>
            <a:ext cx="10588337" cy="85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6049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 References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317264" y="578353"/>
            <a:ext cx="4970736" cy="5876655"/>
          </a:xfrm>
          <a:custGeom>
            <a:avLst/>
            <a:gdLst/>
            <a:ahLst/>
            <a:cxnLst/>
            <a:rect r="r" b="b" t="t" l="l"/>
            <a:pathLst>
              <a:path h="5876655" w="4970736">
                <a:moveTo>
                  <a:pt x="0" y="0"/>
                </a:moveTo>
                <a:lnTo>
                  <a:pt x="4970736" y="0"/>
                </a:lnTo>
                <a:lnTo>
                  <a:pt x="4970736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73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4955752"/>
            <a:ext cx="4866346" cy="5331248"/>
          </a:xfrm>
          <a:custGeom>
            <a:avLst/>
            <a:gdLst/>
            <a:ahLst/>
            <a:cxnLst/>
            <a:rect r="r" b="b" t="t" l="l"/>
            <a:pathLst>
              <a:path h="5331248" w="4866346">
                <a:moveTo>
                  <a:pt x="0" y="0"/>
                </a:moveTo>
                <a:lnTo>
                  <a:pt x="4866346" y="0"/>
                </a:lnTo>
                <a:lnTo>
                  <a:pt x="4866346" y="5331248"/>
                </a:lnTo>
                <a:lnTo>
                  <a:pt x="0" y="5331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230" r="-13223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6941" y="2502698"/>
            <a:ext cx="15354118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3" tooltip="https://arxiv.org/abs/2412.01929"/>
              </a:rPr>
              <a:t>https://arxiv.org/abs/2412.01929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 tooltip="https://researchers.mq.edu.au/en/publications/end-to-end-sleep-apnea-detection-using-single-lead-ecg-signal-and/"/>
              </a:rPr>
              <a:t>https://link.springer.com/article/10.1007/s40846-021-00646-8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5" tooltip="https://www.semanticscholar.org/paper/5dac6c758ab1c2b0763e7cc4fb0ef28baa9c4c06"/>
              </a:rPr>
              <a:t>https://www.semanticscholar.org/paper/5dac6c758ab1c2b0763e7cc4fb0ef28baa9c4c06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 tooltip="https://ieeexplore.ieee.org/document/10681551/"/>
              </a:rPr>
              <a:t>https://ieeexplore.ieee.org/document/10681551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5516" y="8836025"/>
            <a:ext cx="369260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7" tooltip="https://github.com/khaledmaaiof-bot/Sleep-Stages-Classification.git"/>
              </a:rPr>
              <a:t>[GitHub Repository Link]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9997" y="148919"/>
            <a:ext cx="4175632" cy="1033889"/>
            <a:chOff x="0" y="0"/>
            <a:chExt cx="5567510" cy="1378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81477" y="300598"/>
              <a:ext cx="4086033" cy="87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HELWAN UNI.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Faculty of Engineering</a:t>
              </a:r>
            </a:p>
            <a:p>
              <a:pPr algn="l">
                <a:lnSpc>
                  <a:spcPts val="1734"/>
                </a:lnSpc>
              </a:pPr>
              <a:r>
                <a:rPr lang="en-US" sz="123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Department of Biomedical Engineering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04148" y="148919"/>
            <a:ext cx="5083852" cy="5876655"/>
          </a:xfrm>
          <a:custGeom>
            <a:avLst/>
            <a:gdLst/>
            <a:ahLst/>
            <a:cxnLst/>
            <a:rect r="r" b="b" t="t" l="l"/>
            <a:pathLst>
              <a:path h="5876655" w="5083852">
                <a:moveTo>
                  <a:pt x="0" y="0"/>
                </a:moveTo>
                <a:lnTo>
                  <a:pt x="5083852" y="0"/>
                </a:lnTo>
                <a:lnTo>
                  <a:pt x="5083852" y="5876654"/>
                </a:lnTo>
                <a:lnTo>
                  <a:pt x="0" y="587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22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4899343"/>
            <a:ext cx="7263708" cy="5387657"/>
          </a:xfrm>
          <a:custGeom>
            <a:avLst/>
            <a:gdLst/>
            <a:ahLst/>
            <a:cxnLst/>
            <a:rect r="r" b="b" t="t" l="l"/>
            <a:pathLst>
              <a:path h="5387657" w="7263708">
                <a:moveTo>
                  <a:pt x="0" y="0"/>
                </a:moveTo>
                <a:lnTo>
                  <a:pt x="7263708" y="0"/>
                </a:lnTo>
                <a:lnTo>
                  <a:pt x="7263708" y="5387657"/>
                </a:lnTo>
                <a:lnTo>
                  <a:pt x="0" y="5387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76" r="-5558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4989" y="4158838"/>
            <a:ext cx="16578021" cy="230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84"/>
              </a:lnSpc>
            </a:pPr>
            <a:r>
              <a:rPr lang="en-US" b="true" sz="14826">
                <a:solidFill>
                  <a:srgbClr val="FFFFFF"/>
                </a:solidFill>
                <a:latin typeface="XM Vahid Bold"/>
                <a:ea typeface="XM Vahid Bold"/>
                <a:cs typeface="XM Vahid Bold"/>
                <a:sym typeface="XM Vahid Bold"/>
              </a:rPr>
              <a:t>THANK YOU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9997" y="148919"/>
            <a:ext cx="10917300" cy="1367767"/>
            <a:chOff x="0" y="0"/>
            <a:chExt cx="14556400" cy="18236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" cy="1378519"/>
            </a:xfrm>
            <a:custGeom>
              <a:avLst/>
              <a:gdLst/>
              <a:ahLst/>
              <a:cxnLst/>
              <a:rect r="r" b="b" t="t" l="l"/>
              <a:pathLst>
                <a:path h="1378519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8519"/>
                  </a:lnTo>
                  <a:lnTo>
                    <a:pt x="0" y="1378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532705" y="-30088"/>
              <a:ext cx="13023695" cy="1853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21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HELWAN UNI.</a:t>
              </a:r>
            </a:p>
            <a:p>
              <a:pPr algn="l">
                <a:lnSpc>
                  <a:spcPts val="2616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Fac</a:t>
              </a:r>
              <a:r>
                <a:rPr lang="en-US" sz="18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ulty of Engineering</a:t>
              </a:r>
            </a:p>
            <a:p>
              <a:pPr algn="l">
                <a:lnSpc>
                  <a:spcPts val="2616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Department of Biomedical Engineering</a:t>
              </a:r>
            </a:p>
            <a:p>
              <a:pPr algn="ctr">
                <a:lnSpc>
                  <a:spcPts val="303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DAHI9rQ2dwk</dc:identifier>
  <dcterms:modified xsi:type="dcterms:W3CDTF">2011-08-01T06:04:30Z</dcterms:modified>
  <cp:revision>1</cp:revision>
  <dc:title>Black White Minimalist Doodle Simple Presentation</dc:title>
</cp:coreProperties>
</file>